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62" r:id="rId9"/>
    <p:sldId id="266" r:id="rId10"/>
    <p:sldId id="261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0"/>
  </p:normalViewPr>
  <p:slideViewPr>
    <p:cSldViewPr snapToGrid="0">
      <p:cViewPr varScale="1">
        <p:scale>
          <a:sx n="95" d="100"/>
          <a:sy n="95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-134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8F803-CD00-374D-8324-A13213474B7C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9E24D-713C-5C4F-BDD0-C0D6A269A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07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triton one is actually a torch compiled method. It is likely a </a:t>
            </a:r>
            <a:r>
              <a:rPr lang="en-US" dirty="0" err="1"/>
              <a:t>cuda</a:t>
            </a:r>
            <a:r>
              <a:rPr lang="en-US" dirty="0"/>
              <a:t> synchronize call because its ending overlaps with ending of h2d-5 on the </a:t>
            </a:r>
            <a:r>
              <a:rPr lang="en-US" b="1" dirty="0"/>
              <a:t>GPU (not seen here)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9E24D-713C-5C4F-BDD0-C0D6A269AF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73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non Torch compiled screenshot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9E24D-713C-5C4F-BDD0-C0D6A269AFA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95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Basically, if X,Y are not recorded to be part of current stream, then the CPU after launching kernels that use (X,Y) will go ahead in its loop.</a:t>
            </a:r>
          </a:p>
          <a:p>
            <a:r>
              <a:rPr lang="en-US" dirty="0"/>
              <a:t>The ref count for X,Y will drop to 0 , and it will be sent for garbage collection, and </a:t>
            </a:r>
            <a:r>
              <a:rPr lang="en-US" dirty="0" err="1"/>
              <a:t>cuda</a:t>
            </a:r>
            <a:r>
              <a:rPr lang="en-US" dirty="0"/>
              <a:t> will be notified of the same.</a:t>
            </a:r>
          </a:p>
          <a:p>
            <a:r>
              <a:rPr lang="en-US" dirty="0"/>
              <a:t>However kernels have been launched on the default stream to use X,Y. (So </a:t>
            </a:r>
            <a:r>
              <a:rPr lang="en-US" dirty="0" err="1"/>
              <a:t>cuda</a:t>
            </a:r>
            <a:r>
              <a:rPr lang="en-US" dirty="0"/>
              <a:t> might garbage collect since (X,Y) were created on copy-stream initially and python ref count has dropped to 0.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9E24D-713C-5C4F-BDD0-C0D6A269AF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67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StreamSynchronize</a:t>
            </a:r>
            <a:r>
              <a:rPr lang="en-US" dirty="0"/>
              <a:t> : blocks the CPU until </a:t>
            </a:r>
            <a:r>
              <a:rPr lang="en-US" b="1" dirty="0"/>
              <a:t>all previously enqueued GPU work in that stream finishes</a:t>
            </a:r>
            <a:r>
              <a:rPr lang="en-US" dirty="0"/>
              <a:t>.</a:t>
            </a:r>
          </a:p>
          <a:p>
            <a:r>
              <a:rPr lang="en-US" dirty="0"/>
              <a:t>While it’s active, the GPU is still busy, but the CPU is sitting idle waiting for the GPU to “catch up.”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Rule of thumb</a:t>
            </a:r>
          </a:p>
          <a:p>
            <a:r>
              <a:rPr lang="en-US" b="1" dirty="0"/>
              <a:t>You want this number low.</a:t>
            </a:r>
            <a:endParaRPr lang="en-US" dirty="0"/>
          </a:p>
          <a:p>
            <a:pPr lvl="1"/>
            <a:r>
              <a:rPr lang="en-US" dirty="0"/>
              <a:t>High → CPU idle, GPU underutilized.</a:t>
            </a:r>
          </a:p>
          <a:p>
            <a:pPr lvl="1"/>
            <a:r>
              <a:rPr lang="en-US" dirty="0"/>
              <a:t>Low → CPU keeps enqueueing work, GPU runs smoothly.</a:t>
            </a:r>
          </a:p>
          <a:p>
            <a:endParaRPr lang="en-US" dirty="0"/>
          </a:p>
          <a:p>
            <a:r>
              <a:rPr lang="en-US" b="1" dirty="0"/>
              <a:t>Without </a:t>
            </a:r>
            <a:r>
              <a:rPr lang="en-US" b="1" dirty="0" err="1"/>
              <a:t>torch.compile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cudaStreamSynchronize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566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</a:t>
            </a:r>
            <a:r>
              <a:rPr lang="en-US" dirty="0"/>
              <a:t> → many little sync points, so the host keeps stalling.</a:t>
            </a:r>
          </a:p>
          <a:p>
            <a:r>
              <a:rPr lang="en-US" b="1" dirty="0"/>
              <a:t>With </a:t>
            </a:r>
            <a:r>
              <a:rPr lang="en-US" b="1" dirty="0" err="1"/>
              <a:t>torch.compile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cudaStreamSynchronize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0.417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</a:t>
            </a:r>
            <a:r>
              <a:rPr lang="en-US" dirty="0"/>
              <a:t> → almost no blocking syncs.</a:t>
            </a:r>
          </a:p>
          <a:p>
            <a:r>
              <a:rPr lang="en-US"/>
              <a:t>That matches the intuition: compiling graphs removes lots of Python “stepping in,” so you get fewer sync boundaries.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9E24D-713C-5C4F-BDD0-C0D6A269AF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52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0E9E7-B201-AF7A-5032-6658C0D2B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C75C8-6A65-D5AA-3567-77B860CFE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26F46-594E-669B-EF36-4B1B2C241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B8F64-CB06-664C-8538-CF00039843F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297F5-6377-0762-E4C5-2BF71A22A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93CFF-91F2-4278-7765-0F57EB3C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CFBC-D876-194D-8760-DB3776F76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47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EF54A-477C-4FA9-6A38-B27FD037C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B8C89-E65E-0F98-A55F-57082C5DE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65BB5-CFEF-67FD-BB64-EC4A65AE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B8F64-CB06-664C-8538-CF00039843F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7510-674B-1AFA-00ED-27C77722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ACD38-C6C4-81B9-F94D-9871DD30A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CFBC-D876-194D-8760-DB3776F76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2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82D36-AB17-705C-EABD-D7CDCB079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00159-6714-CF37-BCDE-4C64AB63A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CB14B-B260-5272-D771-94EDAEF0F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B8F64-CB06-664C-8538-CF00039843F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3C646-FD5B-447D-0C53-A03B3B76E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A4FFC-019C-5DEB-341B-92DA9BBAC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CFBC-D876-194D-8760-DB3776F76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9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11455-833E-944D-0857-57CD249D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8084-53F3-E14B-5851-890B10ACA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3468E-E340-C774-1FA1-6A6C85CAA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2D588-AE45-F923-C700-91A36AB67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B8F64-CB06-664C-8538-CF00039843F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B6CEF-F98D-A815-ACEE-53B346E0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CAC5A-9E5B-ED53-90B1-5270E30A1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CFBC-D876-194D-8760-DB3776F76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10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317A6-C576-0834-167B-EC2296E8E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81A7D-5EC8-649A-9B7D-E3A0F6661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3B688-5376-032A-1AE4-F08D60030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88796A-5F16-6A16-8B0F-D32CDBC2B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476C54-0633-AD6E-579C-81435AA13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59F7D6-BFF2-F175-D473-761AF9B9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B8F64-CB06-664C-8538-CF00039843F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EFBE8D-0825-07C9-6A2D-02F898742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DD371-66E0-0D88-99B9-E1CFAEC43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CFBC-D876-194D-8760-DB3776F76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26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0A45C-D045-E135-EAC3-0EFB20A78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B1111-1447-C417-C5F0-8B6D4BEF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B8F64-CB06-664C-8538-CF00039843F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F6479-9937-0E89-A744-D9867299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8CA1F-3B3A-0FBC-A2C0-9A46F9132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CFBC-D876-194D-8760-DB3776F76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83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63B067-3BE5-59A4-9959-13C821148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B8F64-CB06-664C-8538-CF00039843F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69AE9C-847A-1E1D-F9FE-7953C356C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9617C-DD1E-1450-B674-E4E709205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CFBC-D876-194D-8760-DB3776F76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921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6C5B3-3252-768A-BCE3-642D39740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14F15-6D3C-85D3-EBD1-4C61F8D25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EDEA9-E796-66C0-A9BA-641F06C39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8A6D4-95CF-9296-89C7-80638406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B8F64-CB06-664C-8538-CF00039843F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7E6BD-21E6-1884-4C80-023E06039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9997F-8B68-FC9E-F448-39AC8D58F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CFBC-D876-194D-8760-DB3776F76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14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928BE-638E-40F4-B4FC-F8FD1439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D0084A-BCD5-2506-C0FD-33AA9A7AFF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2F1A38-C40F-E6DA-71A4-FB1389A1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F2AF6-BDF0-F7BF-C02B-666C4491C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B8F64-CB06-664C-8538-CF00039843F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D6C51-2B25-E230-A6CB-833D539E2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B9229-DC46-926A-9088-A92DB782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CFBC-D876-194D-8760-DB3776F76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57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FFB1E-0E79-4439-0B99-ED76A485C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C4AC24-9FD1-33F2-56CE-4F841C582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255F5-DF79-6340-ABB4-600A35F32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B8F64-CB06-664C-8538-CF00039843F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1FDFE-0D14-8E59-0B29-B139A44B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2C54F-DE39-B847-81F5-4D19C2D4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CFBC-D876-194D-8760-DB3776F76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522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D51C91-1A6A-5123-D08C-7873B2E45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24B71-649D-FFEC-3785-46A92F2A6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3F359-CFC9-E18D-404A-A02195EA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B8F64-CB06-664C-8538-CF00039843F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FF29F-4A60-F16D-0784-A86087F82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2C80F-67D5-7D51-C8DF-1150D501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CFBC-D876-194D-8760-DB3776F76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98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49203-4A89-40A2-4196-B596E316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78DAA-7069-E9F9-33A6-FFB7FE37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B4729-D7D3-5C82-0738-0C7BFF54DB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6B8F64-CB06-664C-8538-CF00039843F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90F49-C628-19B0-F46C-0E9FE5BA6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F4A4E-1532-5E7C-6A01-9D2DFF452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D0CFBC-D876-194D-8760-DB3776F76A5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6B8CCA-E272-8618-87AD-2158F9147DF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2287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DCE3C-DAA2-EF27-93D2-CC46DAC138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NVTX Profiler Notes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26BE4A7-2E3E-2E0C-AF9C-C9DB5E3F65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Avinash</a:t>
            </a:r>
          </a:p>
        </p:txBody>
      </p:sp>
    </p:spTree>
    <p:extLst>
      <p:ext uri="{BB962C8B-B14F-4D97-AF65-F5344CB8AC3E}">
        <p14:creationId xmlns:p14="http://schemas.microsoft.com/office/powerpoint/2010/main" val="1311644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7F47F-2E48-D62C-31FA-25104D1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Gradient Clipping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4034C4-1B66-9F2C-C3B9-A1F9975BF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670" y="1858567"/>
            <a:ext cx="10515600" cy="4634308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90623F9B-9D89-6A3D-78CD-7146113306F7}"/>
              </a:ext>
            </a:extLst>
          </p:cNvPr>
          <p:cNvSpPr/>
          <p:nvPr/>
        </p:nvSpPr>
        <p:spPr>
          <a:xfrm>
            <a:off x="3738282" y="4397829"/>
            <a:ext cx="7615518" cy="712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021535-2A78-CEFD-EC81-076021B0DE12}"/>
              </a:ext>
            </a:extLst>
          </p:cNvPr>
          <p:cNvSpPr txBox="1"/>
          <p:nvPr/>
        </p:nvSpPr>
        <p:spPr>
          <a:xfrm>
            <a:off x="4155141" y="6492875"/>
            <a:ext cx="3062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CPU Blocked waiting for GPU</a:t>
            </a:r>
          </a:p>
        </p:txBody>
      </p:sp>
    </p:spTree>
    <p:extLst>
      <p:ext uri="{BB962C8B-B14F-4D97-AF65-F5344CB8AC3E}">
        <p14:creationId xmlns:p14="http://schemas.microsoft.com/office/powerpoint/2010/main" val="1424372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0E340-6CD6-F2DD-5CB0-3D6022F2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C3D1-40EE-1B25-DA00-6F80441A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Gradient Clipping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68D541-07B5-5BDC-CEFB-B2AA77DE13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71394" y="1955319"/>
            <a:ext cx="5181600" cy="460256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D00043-0339-FF4A-E6E4-AB2C40E64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867401" cy="4351338"/>
          </a:xfrm>
        </p:spPr>
        <p:txBody>
          <a:bodyPr/>
          <a:lstStyle/>
          <a:p>
            <a:r>
              <a:rPr lang="en-US" dirty="0"/>
              <a:t>Culprits:</a:t>
            </a:r>
          </a:p>
          <a:p>
            <a:pPr lvl="1"/>
            <a:r>
              <a:rPr lang="en-US" dirty="0" err="1"/>
              <a:t>math.sqrt</a:t>
            </a:r>
            <a:r>
              <a:rPr lang="en-US" dirty="0"/>
              <a:t> (</a:t>
            </a:r>
            <a:r>
              <a:rPr lang="en-US" dirty="0" err="1"/>
              <a:t>torch.tensor</a:t>
            </a:r>
            <a:r>
              <a:rPr lang="en-US" dirty="0"/>
              <a:t> ([]))  </a:t>
            </a:r>
          </a:p>
          <a:p>
            <a:pPr lvl="2"/>
            <a:r>
              <a:rPr lang="en-US" dirty="0"/>
              <a:t>Caused a GPU-&gt;CPU transfer</a:t>
            </a:r>
          </a:p>
          <a:p>
            <a:pPr lvl="2"/>
            <a:r>
              <a:rPr lang="en-US" dirty="0"/>
              <a:t>Replace with </a:t>
            </a:r>
            <a:r>
              <a:rPr lang="en-US" dirty="0" err="1"/>
              <a:t>torch.sqrt</a:t>
            </a:r>
            <a:r>
              <a:rPr lang="en-US" dirty="0"/>
              <a:t> (</a:t>
            </a:r>
            <a:r>
              <a:rPr lang="en-US" dirty="0" err="1"/>
              <a:t>torch.tensor</a:t>
            </a:r>
            <a:r>
              <a:rPr lang="en-US" dirty="0"/>
              <a:t>([]))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if l2_norm_sum &lt; max_l2_norm_sum:</a:t>
            </a:r>
          </a:p>
          <a:p>
            <a:pPr lvl="2"/>
            <a:r>
              <a:rPr lang="en-US" dirty="0"/>
              <a:t>Caused a GPU -&gt; CPU transfer</a:t>
            </a:r>
          </a:p>
          <a:p>
            <a:pPr lvl="2"/>
            <a:r>
              <a:rPr lang="en-US" dirty="0"/>
              <a:t>“if” comparison caused implicit sync() and CPU to stall</a:t>
            </a:r>
          </a:p>
          <a:p>
            <a:pPr lvl="2"/>
            <a:r>
              <a:rPr lang="en-US" dirty="0"/>
              <a:t>Fix: clamp() trick below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25833C-D2AB-BE7E-3F28-DFFB39123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94" y="2715433"/>
            <a:ext cx="5181600" cy="7135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5C8DFD-8A72-A4B6-C69A-2B4487A23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42426"/>
            <a:ext cx="5640080" cy="23037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FEC370-75B6-3468-39A2-2A8B38B2D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813858"/>
            <a:ext cx="5943600" cy="93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232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73E1C-EC86-66ED-1441-C6E3F7E21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Gradient Clipping (</a:t>
            </a:r>
            <a:r>
              <a:rPr lang="en-US" b="1" dirty="0" err="1"/>
              <a:t>Memcpy</a:t>
            </a:r>
            <a:r>
              <a:rPr lang="en-US" b="1" dirty="0"/>
              <a:t> removed)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196305-A194-B038-CCD4-ED5A36326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41814"/>
            <a:ext cx="7772400" cy="300808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5400039B-169D-E6B3-0516-1908DFC75067}"/>
              </a:ext>
            </a:extLst>
          </p:cNvPr>
          <p:cNvSpPr/>
          <p:nvPr/>
        </p:nvSpPr>
        <p:spPr>
          <a:xfrm>
            <a:off x="7234518" y="4464424"/>
            <a:ext cx="537882" cy="72614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8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6EDCF-56F1-264D-35F3-95929F202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H2D Transfer of Batch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C6295-ACBB-13D6-F5E2-34F19406F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044854"/>
            <a:ext cx="10297886" cy="4351338"/>
          </a:xfrm>
        </p:spPr>
        <p:txBody>
          <a:bodyPr>
            <a:normAutofit/>
          </a:bodyPr>
          <a:lstStyle/>
          <a:p>
            <a:r>
              <a:rPr lang="en-US" sz="1600" dirty="0"/>
              <a:t>Using </a:t>
            </a:r>
            <a:r>
              <a:rPr lang="en-US" sz="1600" dirty="0" err="1"/>
              <a:t>pin_memory</a:t>
            </a:r>
            <a:r>
              <a:rPr lang="en-US" sz="1600" dirty="0"/>
              <a:t>=True ensures that the </a:t>
            </a:r>
            <a:r>
              <a:rPr lang="en-US" sz="1600" dirty="0" err="1"/>
              <a:t>DataLoader</a:t>
            </a:r>
            <a:r>
              <a:rPr lang="en-US" sz="1600" dirty="0"/>
              <a:t> loads batches into pinned (page-locked) memory. </a:t>
            </a:r>
          </a:p>
          <a:p>
            <a:r>
              <a:rPr lang="en-US" sz="1600" dirty="0"/>
              <a:t>Allows the CUDA driver to perform </a:t>
            </a:r>
            <a:r>
              <a:rPr lang="en-US" sz="1600" b="1" dirty="0"/>
              <a:t>asynchronous, high-throughput memory transfers (via DMA)</a:t>
            </a:r>
            <a:r>
              <a:rPr lang="en-US" sz="1600" dirty="0"/>
              <a:t> to the GPU when .to(device, </a:t>
            </a:r>
            <a:r>
              <a:rPr lang="en-US" sz="1600" dirty="0" err="1"/>
              <a:t>non_blocking</a:t>
            </a:r>
            <a:r>
              <a:rPr lang="en-US" sz="1600" dirty="0"/>
              <a:t>=True) is used. Faster!</a:t>
            </a:r>
          </a:p>
          <a:p>
            <a:endParaRPr lang="en-US" sz="1600" dirty="0"/>
          </a:p>
          <a:p>
            <a:r>
              <a:rPr lang="en-US" sz="1600" dirty="0"/>
              <a:t>Otherwise Synchronous (and CPU blocks waiting for the batch transfer to complete). </a:t>
            </a:r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8A6CA2D-6A29-1F7C-2624-E1C1C6A7FB2B}"/>
              </a:ext>
            </a:extLst>
          </p:cNvPr>
          <p:cNvGrpSpPr/>
          <p:nvPr/>
        </p:nvGrpSpPr>
        <p:grpSpPr>
          <a:xfrm>
            <a:off x="107576" y="1477282"/>
            <a:ext cx="7772400" cy="3263506"/>
            <a:chOff x="219636" y="1825625"/>
            <a:chExt cx="7772400" cy="326350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4F5F9D8-B2C1-C996-9DBF-AAA9565C9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636" y="1825625"/>
              <a:ext cx="7772400" cy="3128569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9A6CB24-FCE4-7130-5DBC-AEDC434580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8200" y="4581345"/>
              <a:ext cx="232442" cy="5077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1DB2A2E-246D-2D1E-730B-373755FB21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0486" y="4321629"/>
              <a:ext cx="450156" cy="7675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B5EFB14-6F5E-0979-39BB-C8BA42E4DA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44486" y="4565076"/>
              <a:ext cx="232442" cy="5077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7D6796E-C458-15BA-105B-94DEDEFC3C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26772" y="4305360"/>
              <a:ext cx="450156" cy="7675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2900D00-CA41-92DE-E362-7E729E40C8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0290" y="4581345"/>
              <a:ext cx="232442" cy="5077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C6EA21D-076D-B5F8-7B54-3ECF749A6E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82576" y="4321629"/>
              <a:ext cx="450156" cy="7675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FF03512-F643-88F5-5346-A8222A933D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06576" y="4513877"/>
              <a:ext cx="232442" cy="5077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D33B1D3-10DE-770F-B770-C9AB0C0ACB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8862" y="4254161"/>
              <a:ext cx="450156" cy="7675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8396937-ACBC-80A7-FEA0-A5C6126BCF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1248" y="4565076"/>
              <a:ext cx="232442" cy="5077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D64D468-C488-13B2-B3E6-4C7B9305F3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23534" y="4305360"/>
              <a:ext cx="450156" cy="7675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6BB891AC-D5D2-C9F0-3A8C-23A235874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465" y="599645"/>
            <a:ext cx="1295400" cy="47244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248C89-F072-CE1F-1F09-C21EEA61DBB7}"/>
              </a:ext>
            </a:extLst>
          </p:cNvPr>
          <p:cNvCxnSpPr>
            <a:cxnSpLocks/>
          </p:cNvCxnSpPr>
          <p:nvPr/>
        </p:nvCxnSpPr>
        <p:spPr>
          <a:xfrm>
            <a:off x="9749116" y="3896913"/>
            <a:ext cx="18550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3591813-EAC8-C86A-0CA7-5CE902207CF7}"/>
              </a:ext>
            </a:extLst>
          </p:cNvPr>
          <p:cNvSpPr txBox="1"/>
          <p:nvPr/>
        </p:nvSpPr>
        <p:spPr>
          <a:xfrm>
            <a:off x="8040567" y="3573747"/>
            <a:ext cx="2566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CPU and GPU </a:t>
            </a:r>
          </a:p>
          <a:p>
            <a:r>
              <a:rPr lang="en-US" dirty="0"/>
              <a:t>ending at the same time</a:t>
            </a:r>
          </a:p>
        </p:txBody>
      </p:sp>
    </p:spTree>
    <p:extLst>
      <p:ext uri="{BB962C8B-B14F-4D97-AF65-F5344CB8AC3E}">
        <p14:creationId xmlns:p14="http://schemas.microsoft.com/office/powerpoint/2010/main" val="1793325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D0BEE-67BF-63F1-80E6-66229AD8E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H2D Transfer of Batch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DED5C-C04F-DC8C-5C46-1F0037CC9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8011886" cy="4351338"/>
          </a:xfrm>
        </p:spPr>
        <p:txBody>
          <a:bodyPr/>
          <a:lstStyle/>
          <a:p>
            <a:r>
              <a:rPr lang="en-US"/>
              <a:t>Asynchronous (CPU has returned immediately)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9A517C-7676-D848-144E-C62931AF7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03869"/>
            <a:ext cx="7067065" cy="377309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ECD145-EC9B-9B40-AB9C-F1A93989DE9E}"/>
              </a:ext>
            </a:extLst>
          </p:cNvPr>
          <p:cNvCxnSpPr>
            <a:cxnSpLocks/>
          </p:cNvCxnSpPr>
          <p:nvPr/>
        </p:nvCxnSpPr>
        <p:spPr>
          <a:xfrm flipH="1" flipV="1">
            <a:off x="2699657" y="5061857"/>
            <a:ext cx="174172" cy="293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363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55293-1DB7-ED42-2859-E7D65C8B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H2D Transfer of Batch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4202A2-FD18-4E6F-4E0F-3D27596B902D}"/>
              </a:ext>
            </a:extLst>
          </p:cNvPr>
          <p:cNvSpPr txBox="1"/>
          <p:nvPr/>
        </p:nvSpPr>
        <p:spPr>
          <a:xfrm>
            <a:off x="838200" y="2171291"/>
            <a:ext cx="60982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Even though </a:t>
            </a:r>
            <a:r>
              <a:rPr lang="en-US" dirty="0" err="1">
                <a:latin typeface="Courier New" panose="02070309020205020404" pitchFamily="49" charset="0"/>
              </a:rPr>
              <a:t>x.to</a:t>
            </a:r>
            <a:r>
              <a:rPr lang="en-US" dirty="0">
                <a:latin typeface="Courier New" panose="02070309020205020404" pitchFamily="49" charset="0"/>
              </a:rPr>
              <a:t>(device, </a:t>
            </a:r>
            <a:r>
              <a:rPr lang="en-US" dirty="0" err="1">
                <a:latin typeface="Courier New" panose="02070309020205020404" pitchFamily="49" charset="0"/>
              </a:rPr>
              <a:t>non_blocking</a:t>
            </a:r>
            <a:r>
              <a:rPr lang="en-US" dirty="0">
                <a:latin typeface="Courier New" panose="02070309020205020404" pitchFamily="49" charset="0"/>
              </a:rPr>
              <a:t>=True)</a:t>
            </a:r>
            <a:r>
              <a:rPr lang="en-US" dirty="0"/>
              <a:t> is async, it: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Waits in line behind compute ops from the previous batch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Delays execution and overlap of next batch</a:t>
            </a:r>
            <a:r>
              <a:rPr lang="en-US" dirty="0"/>
              <a:t> with the current one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Thus, the </a:t>
            </a:r>
            <a:r>
              <a:rPr lang="en-US" b="1" dirty="0"/>
              <a:t>submission of work for batch N+1 is delayed until batch N’s work is done being submitted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0B5C51-7908-B065-B19D-6FB297BB4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440" y="2316661"/>
            <a:ext cx="5096124" cy="28623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0F3D54-350F-F4ED-1AD0-172D8207A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950" y="5659586"/>
            <a:ext cx="74041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93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48AB-2E3A-37CE-7046-C9FD819AE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Streaming in CUDA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63A92-3787-A4C3-38E6-CC6C86602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1035" y="1998066"/>
            <a:ext cx="4719917" cy="4351338"/>
          </a:xfrm>
        </p:spPr>
        <p:txBody>
          <a:bodyPr>
            <a:normAutofit/>
          </a:bodyPr>
          <a:lstStyle/>
          <a:p>
            <a:r>
              <a:rPr lang="en-US" sz="1400" dirty="0"/>
              <a:t>Helps overlap compute and memory transfer. </a:t>
            </a:r>
          </a:p>
          <a:p>
            <a:r>
              <a:rPr lang="en-US" sz="1400" dirty="0"/>
              <a:t>Useful when :</a:t>
            </a:r>
          </a:p>
          <a:p>
            <a:pPr lvl="1"/>
            <a:r>
              <a:rPr lang="en-US" sz="1400" dirty="0"/>
              <a:t>Memory transfer is slow because of slow interconnect or large data</a:t>
            </a:r>
          </a:p>
          <a:p>
            <a:pPr lvl="1"/>
            <a:r>
              <a:rPr lang="en-US" sz="1400" dirty="0"/>
              <a:t>Mask memory latency with compute</a:t>
            </a:r>
          </a:p>
          <a:p>
            <a:r>
              <a:rPr lang="en-US" sz="1400" dirty="0"/>
              <a:t>Compute time : 50 </a:t>
            </a:r>
            <a:r>
              <a:rPr lang="en-US" sz="1400" dirty="0" err="1"/>
              <a:t>ms</a:t>
            </a:r>
            <a:r>
              <a:rPr lang="en-US" sz="1400" dirty="0"/>
              <a:t>, Memory transfer time : 50ms</a:t>
            </a:r>
          </a:p>
          <a:p>
            <a:pPr lvl="1"/>
            <a:r>
              <a:rPr lang="en-US" sz="1400" dirty="0"/>
              <a:t>Without streaming : 50 + 50 = 100ms</a:t>
            </a:r>
          </a:p>
          <a:p>
            <a:pPr lvl="1"/>
            <a:r>
              <a:rPr lang="en-US" sz="1400" dirty="0"/>
              <a:t>With streaming : 0 (amortized by overlap in prior step’s compute) + 50 = 50ms</a:t>
            </a:r>
            <a:endParaRPr lang="en-US" sz="1500" dirty="0"/>
          </a:p>
          <a:p>
            <a:pPr lvl="1"/>
            <a:endParaRPr lang="en-US" sz="1500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Compute time : 50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Memory transfer time : 150ms</a:t>
            </a:r>
          </a:p>
          <a:p>
            <a:pPr lvl="1">
              <a:spcBef>
                <a:spcPts val="1000"/>
              </a:spcBef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Without streaming : 150 + 50 = 200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defRPr/>
            </a:pPr>
            <a:r>
              <a:rPr lang="en-US" sz="1400" dirty="0">
                <a:solidFill>
                  <a:prstClr val="black"/>
                </a:solidFill>
                <a:latin typeface="Aptos" panose="02110004020202020204"/>
              </a:rPr>
              <a:t>With streaming : 100 (50 amortized by overlap in prior step’s compute) + 50 = 150ms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3A4C34-D7F2-9CC0-1B38-6825C4C2E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2" y="2528657"/>
            <a:ext cx="7772400" cy="329015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6172A6-E747-F44A-7AEB-9D766E09D753}"/>
              </a:ext>
            </a:extLst>
          </p:cNvPr>
          <p:cNvCxnSpPr>
            <a:cxnSpLocks/>
          </p:cNvCxnSpPr>
          <p:nvPr/>
        </p:nvCxnSpPr>
        <p:spPr>
          <a:xfrm flipH="1" flipV="1">
            <a:off x="7158318" y="4059757"/>
            <a:ext cx="2120153" cy="1924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F5F186-5FAD-5692-8817-05039BC3D9C9}"/>
              </a:ext>
            </a:extLst>
          </p:cNvPr>
          <p:cNvCxnSpPr>
            <a:cxnSpLocks/>
          </p:cNvCxnSpPr>
          <p:nvPr/>
        </p:nvCxnSpPr>
        <p:spPr>
          <a:xfrm flipH="1" flipV="1">
            <a:off x="7355541" y="4059757"/>
            <a:ext cx="2075330" cy="2076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630D17-92FF-2EFD-546F-D88804DF6823}"/>
              </a:ext>
            </a:extLst>
          </p:cNvPr>
          <p:cNvCxnSpPr>
            <a:cxnSpLocks/>
          </p:cNvCxnSpPr>
          <p:nvPr/>
        </p:nvCxnSpPr>
        <p:spPr>
          <a:xfrm flipH="1" flipV="1">
            <a:off x="7005918" y="4059757"/>
            <a:ext cx="2424953" cy="2076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5A1592-A4A8-4655-DBD1-F23D25079439}"/>
              </a:ext>
            </a:extLst>
          </p:cNvPr>
          <p:cNvCxnSpPr>
            <a:cxnSpLocks/>
          </p:cNvCxnSpPr>
          <p:nvPr/>
        </p:nvCxnSpPr>
        <p:spPr>
          <a:xfrm flipH="1" flipV="1">
            <a:off x="7343215" y="3092824"/>
            <a:ext cx="2087656" cy="3043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8AF70A-EA88-1E1E-26A4-97F17F61A151}"/>
              </a:ext>
            </a:extLst>
          </p:cNvPr>
          <p:cNvCxnSpPr>
            <a:cxnSpLocks/>
          </p:cNvCxnSpPr>
          <p:nvPr/>
        </p:nvCxnSpPr>
        <p:spPr>
          <a:xfrm flipH="1" flipV="1">
            <a:off x="7511864" y="3092824"/>
            <a:ext cx="1931333" cy="3043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305E2F-6679-E269-C739-ADFD8A5E7547}"/>
              </a:ext>
            </a:extLst>
          </p:cNvPr>
          <p:cNvSpPr txBox="1"/>
          <p:nvPr/>
        </p:nvSpPr>
        <p:spPr>
          <a:xfrm>
            <a:off x="7511864" y="6271270"/>
            <a:ext cx="4396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transfer and compute overlapping</a:t>
            </a:r>
          </a:p>
        </p:txBody>
      </p:sp>
    </p:spTree>
    <p:extLst>
      <p:ext uri="{BB962C8B-B14F-4D97-AF65-F5344CB8AC3E}">
        <p14:creationId xmlns:p14="http://schemas.microsoft.com/office/powerpoint/2010/main" val="652172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7295-E0CB-AA72-BDA0-E1164254E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Streams in Cuda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25D8504-A001-B10B-10F5-7316A5DCE7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85800" y="6176963"/>
            <a:ext cx="3892191" cy="68103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9ADEE-61EA-0DCA-2F31-42DB2C44EF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Using two streams:</a:t>
            </a:r>
          </a:p>
          <a:p>
            <a:pPr marL="0" indent="0">
              <a:buNone/>
            </a:pPr>
            <a:r>
              <a:rPr lang="en-US" sz="1500" dirty="0"/>
              <a:t>batch0 : copy stream of X, Y</a:t>
            </a:r>
          </a:p>
          <a:p>
            <a:pPr marL="0" indent="0">
              <a:buNone/>
            </a:pPr>
            <a:r>
              <a:rPr lang="en-US" sz="1500" dirty="0"/>
              <a:t> while True:</a:t>
            </a:r>
          </a:p>
          <a:p>
            <a:pPr marL="0" indent="0">
              <a:buNone/>
            </a:pPr>
            <a:r>
              <a:rPr lang="en-US" sz="1500" dirty="0"/>
              <a:t>         ensure default stream waits for copy stream to finish  d2h transfer to use X,Y </a:t>
            </a:r>
          </a:p>
          <a:p>
            <a:pPr marL="0" indent="0">
              <a:buNone/>
            </a:pPr>
            <a:r>
              <a:rPr lang="en-US" sz="1500" dirty="0"/>
              <a:t>         “</a:t>
            </a:r>
            <a:r>
              <a:rPr lang="en-US" sz="1500" dirty="0" err="1"/>
              <a:t>record_stream</a:t>
            </a:r>
            <a:r>
              <a:rPr lang="en-US" sz="1500" dirty="0"/>
              <a:t>” of X,Y to current stream so that it is not garbage collected* (Check notes)</a:t>
            </a:r>
          </a:p>
          <a:p>
            <a:pPr marL="0" indent="0">
              <a:buNone/>
            </a:pPr>
            <a:r>
              <a:rPr lang="en-US" sz="1500" dirty="0"/>
              <a:t>         batch1 : copy stream of </a:t>
            </a:r>
            <a:r>
              <a:rPr lang="en-US" sz="1500" dirty="0" err="1"/>
              <a:t>Xnext</a:t>
            </a:r>
            <a:r>
              <a:rPr lang="en-US" sz="1500" dirty="0"/>
              <a:t>, </a:t>
            </a:r>
            <a:r>
              <a:rPr lang="en-US" sz="1500" dirty="0" err="1"/>
              <a:t>Ynext</a:t>
            </a:r>
            <a:r>
              <a:rPr lang="en-US" sz="1500" dirty="0"/>
              <a:t> </a:t>
            </a:r>
          </a:p>
          <a:p>
            <a:pPr marL="0" indent="0">
              <a:buNone/>
            </a:pPr>
            <a:r>
              <a:rPr lang="en-US" sz="1500" dirty="0"/>
              <a:t>         call </a:t>
            </a:r>
            <a:r>
              <a:rPr lang="en-US" sz="1500" dirty="0" err="1"/>
              <a:t>forward,backprop</a:t>
            </a:r>
            <a:r>
              <a:rPr lang="en-US" sz="1500" dirty="0"/>
              <a:t> </a:t>
            </a:r>
            <a:r>
              <a:rPr lang="en-US" sz="1500" dirty="0" err="1"/>
              <a:t>etc</a:t>
            </a:r>
            <a:r>
              <a:rPr lang="en-US" sz="1500" dirty="0"/>
              <a:t> on default stream </a:t>
            </a:r>
          </a:p>
          <a:p>
            <a:pPr marL="0" indent="0">
              <a:buNone/>
            </a:pPr>
            <a:r>
              <a:rPr lang="en-US" sz="1500" dirty="0"/>
              <a:t>         break : when enough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2CEF19-D667-6C43-AE2C-D314DF5C0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06444"/>
            <a:ext cx="3892192" cy="487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58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B459C-B75E-053F-3B66-8E62E7BD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TorchCompile</a:t>
            </a:r>
            <a:r>
              <a:rPr lang="en-US" b="1" dirty="0"/>
              <a:t> Benefits (Kernel Fusion)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A961CC-F7D7-3AB6-7285-5BAC28DD8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40" y="1690688"/>
            <a:ext cx="4817837" cy="2916284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C610B3A3-3DCA-7AC4-1EB2-DD76026B8C55}"/>
              </a:ext>
            </a:extLst>
          </p:cNvPr>
          <p:cNvSpPr/>
          <p:nvPr/>
        </p:nvSpPr>
        <p:spPr>
          <a:xfrm rot="16200000">
            <a:off x="4803777" y="3559628"/>
            <a:ext cx="141514" cy="12300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9E73B4CB-2E0C-BC7B-4A48-D3A2E7BF53A8}"/>
              </a:ext>
            </a:extLst>
          </p:cNvPr>
          <p:cNvSpPr/>
          <p:nvPr/>
        </p:nvSpPr>
        <p:spPr>
          <a:xfrm rot="16200000">
            <a:off x="722313" y="4053341"/>
            <a:ext cx="141514" cy="24266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FAC6F8-BB5F-FEDE-1293-0468B5CF9041}"/>
              </a:ext>
            </a:extLst>
          </p:cNvPr>
          <p:cNvSpPr txBox="1"/>
          <p:nvPr/>
        </p:nvSpPr>
        <p:spPr>
          <a:xfrm>
            <a:off x="671740" y="5932535"/>
            <a:ext cx="12046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 </a:t>
            </a:r>
            <a:r>
              <a:rPr lang="en-US" dirty="0" err="1"/>
              <a:t>AdamW</a:t>
            </a:r>
            <a:r>
              <a:rPr lang="en-US" dirty="0"/>
              <a:t> had a series of small kernel launches – e.g., because of how first and second moments are computed.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38787E-2E14-B564-18F6-07A1E3B30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409" y="1690688"/>
            <a:ext cx="4817837" cy="29162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CDA605-1EA5-65C9-D74D-784AE4A82265}"/>
              </a:ext>
            </a:extLst>
          </p:cNvPr>
          <p:cNvSpPr txBox="1"/>
          <p:nvPr/>
        </p:nvSpPr>
        <p:spPr>
          <a:xfrm>
            <a:off x="2129660" y="4715755"/>
            <a:ext cx="1901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torch compile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3EF1B2-E6E6-973A-123A-EC047CF43D60}"/>
              </a:ext>
            </a:extLst>
          </p:cNvPr>
          <p:cNvSpPr txBox="1"/>
          <p:nvPr/>
        </p:nvSpPr>
        <p:spPr>
          <a:xfrm>
            <a:off x="7799294" y="4715755"/>
            <a:ext cx="1621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Torch Compile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1929CD53-0003-C2EC-69AC-FCDAAD030021}"/>
              </a:ext>
            </a:extLst>
          </p:cNvPr>
          <p:cNvSpPr/>
          <p:nvPr/>
        </p:nvSpPr>
        <p:spPr>
          <a:xfrm rot="16200000">
            <a:off x="7033127" y="3914726"/>
            <a:ext cx="300995" cy="96239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980A7-DC0B-76DB-3DDB-56FAD72C7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CFE02-BC61-FFCB-9230-127A8AC61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TorchCompile</a:t>
            </a:r>
            <a:r>
              <a:rPr lang="en-US" b="1" dirty="0"/>
              <a:t> Benefits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525622-9505-28E6-7659-6732E117F432}"/>
              </a:ext>
            </a:extLst>
          </p:cNvPr>
          <p:cNvSpPr txBox="1"/>
          <p:nvPr/>
        </p:nvSpPr>
        <p:spPr>
          <a:xfrm>
            <a:off x="9090211" y="3263474"/>
            <a:ext cx="2472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Lesser kernel launches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846B71-3480-972F-ACFF-153B1BCE8EBA}"/>
              </a:ext>
            </a:extLst>
          </p:cNvPr>
          <p:cNvSpPr txBox="1"/>
          <p:nvPr/>
        </p:nvSpPr>
        <p:spPr>
          <a:xfrm>
            <a:off x="2151529" y="1896035"/>
            <a:ext cx="1901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torch compile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3D3068-E351-EE46-869D-EDE09BF6A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38153"/>
            <a:ext cx="7772400" cy="6069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38A008-1DD1-6ADE-FD5E-DCF6A9B0C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470200"/>
            <a:ext cx="7772400" cy="7932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9430E4-1D52-B2AD-9905-4A4538E3E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435" y="4418214"/>
            <a:ext cx="7772400" cy="24020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18F37C9-0C24-DB2A-C63A-1BCE2AF3D16B}"/>
              </a:ext>
            </a:extLst>
          </p:cNvPr>
          <p:cNvSpPr txBox="1"/>
          <p:nvPr/>
        </p:nvSpPr>
        <p:spPr>
          <a:xfrm>
            <a:off x="2904565" y="4650455"/>
            <a:ext cx="1583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Torch compile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D4D7B5-4686-98D6-1810-21990525CF74}"/>
              </a:ext>
            </a:extLst>
          </p:cNvPr>
          <p:cNvSpPr txBox="1"/>
          <p:nvPr/>
        </p:nvSpPr>
        <p:spPr>
          <a:xfrm>
            <a:off x="9090211" y="4030954"/>
            <a:ext cx="27903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StreamSynchronize</a:t>
            </a:r>
            <a:r>
              <a:rPr lang="en-US" dirty="0"/>
              <a:t>:</a:t>
            </a:r>
          </a:p>
          <a:p>
            <a:r>
              <a:rPr lang="en-US" dirty="0"/>
              <a:t>Shows less stalling of host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838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765</Words>
  <Application>Microsoft Macintosh PowerPoint</Application>
  <PresentationFormat>Widescreen</PresentationFormat>
  <Paragraphs>85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Office Theme</vt:lpstr>
      <vt:lpstr>NVTX Profiler Notes</vt:lpstr>
      <vt:lpstr>Gradient Clipping</vt:lpstr>
      <vt:lpstr>Gradient Clipping</vt:lpstr>
      <vt:lpstr>Gradient Clipping (Memcpy removed)</vt:lpstr>
      <vt:lpstr>H2D Transfer of Batch</vt:lpstr>
      <vt:lpstr>H2D Transfer of Batch</vt:lpstr>
      <vt:lpstr>H2D Transfer of Batch</vt:lpstr>
      <vt:lpstr>Streaming in CUDA </vt:lpstr>
      <vt:lpstr>Streams in Cuda</vt:lpstr>
      <vt:lpstr>TorchCompile Benefits (Kernel Fusion)</vt:lpstr>
      <vt:lpstr>TorchCompile 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Avinash Kalyanaraman (avkalyan)</dc:creator>
  <cp:lastModifiedBy>Avinash Kalyanaraman (avkalyan)</cp:lastModifiedBy>
  <cp:revision>34</cp:revision>
  <dcterms:created xsi:type="dcterms:W3CDTF">2025-09-25T00:35:14Z</dcterms:created>
  <dcterms:modified xsi:type="dcterms:W3CDTF">2025-09-25T17:48:01Z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2025-09-25T00:40:18Z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9387eeca-42ec-4b8a-a39c-ec3e721ca946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50, 3, 0, 1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Cisco Confidential</vt:lpwstr>
  </property>
</Properties>
</file>